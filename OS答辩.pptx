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3" r:id="rId2"/>
    <p:sldId id="344" r:id="rId3"/>
    <p:sldId id="355" r:id="rId4"/>
    <p:sldId id="345" r:id="rId5"/>
    <p:sldId id="354" r:id="rId6"/>
    <p:sldId id="353" r:id="rId7"/>
    <p:sldId id="352" r:id="rId8"/>
    <p:sldId id="349" r:id="rId9"/>
    <p:sldId id="356" r:id="rId10"/>
    <p:sldId id="358" r:id="rId11"/>
    <p:sldId id="357" r:id="rId12"/>
    <p:sldId id="360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7592B83-68E4-4D19-9458-F07AE949F900}">
          <p14:sldIdLst>
            <p14:sldId id="343"/>
            <p14:sldId id="344"/>
            <p14:sldId id="355"/>
            <p14:sldId id="345"/>
            <p14:sldId id="354"/>
            <p14:sldId id="353"/>
            <p14:sldId id="352"/>
            <p14:sldId id="349"/>
            <p14:sldId id="356"/>
            <p14:sldId id="358"/>
            <p14:sldId id="357"/>
            <p14:sldId id="360"/>
          </p14:sldIdLst>
        </p14:section>
        <p14:section name="默认节" id="{7052312E-AE4E-4F63-85A5-1E3948088C6F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4966"/>
    <a:srgbClr val="DAE0EA"/>
    <a:srgbClr val="CED6E4"/>
    <a:srgbClr val="3B8D99"/>
    <a:srgbClr val="BADF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39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57601-6EFE-4045-B24A-BD1A3F00173A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FFA2F-744A-42FE-BF7B-85A1592508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57601-6EFE-4045-B24A-BD1A3F00173A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FFA2F-744A-42FE-BF7B-85A1592508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rgbClr val="3949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57601-6EFE-4045-B24A-BD1A3F00173A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FFA2F-744A-42FE-BF7B-85A15925086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285384" y="286520"/>
            <a:ext cx="11621233" cy="62849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rgbClr val="355C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57601-6EFE-4045-B24A-BD1A3F00173A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FFA2F-744A-42FE-BF7B-85A15925086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438150" y="428625"/>
            <a:ext cx="11315700" cy="6000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57601-6EFE-4045-B24A-BD1A3F00173A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FFA2F-744A-42FE-BF7B-85A1592508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57601-6EFE-4045-B24A-BD1A3F00173A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FFA2F-744A-42FE-BF7B-85A1592508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57601-6EFE-4045-B24A-BD1A3F00173A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FFA2F-744A-42FE-BF7B-85A1592508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57601-6EFE-4045-B24A-BD1A3F00173A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FFA2F-744A-42FE-BF7B-85A1592508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57601-6EFE-4045-B24A-BD1A3F00173A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FFA2F-744A-42FE-BF7B-85A1592508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57601-6EFE-4045-B24A-BD1A3F00173A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FFA2F-744A-42FE-BF7B-85A1592508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57601-6EFE-4045-B24A-BD1A3F00173A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FFA2F-744A-42FE-BF7B-85A1592508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257601-6EFE-4045-B24A-BD1A3F00173A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EFFA2F-744A-42FE-BF7B-85A1592508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61954" y="1771435"/>
            <a:ext cx="4154905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900" i="0" strike="noStrike" kern="1200" cap="none" spc="0" normalizeH="0" baseline="0" noProof="0" dirty="0">
                <a:solidFill>
                  <a:srgbClr val="3949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03</a:t>
            </a:r>
            <a:endParaRPr kumimoji="0" lang="zh-CN" altLang="en-US" sz="19900" i="0" strike="noStrike" kern="1200" cap="none" spc="0" normalizeH="0" baseline="0" noProof="0" dirty="0">
              <a:solidFill>
                <a:srgbClr val="3949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92069" y="2687070"/>
            <a:ext cx="63662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4000" dirty="0">
                <a:solidFill>
                  <a:srgbClr val="394966"/>
                </a:solidFill>
                <a:latin typeface="MiSans" pitchFamily="34" charset="0"/>
                <a:ea typeface="MiSans" pitchFamily="34" charset="-122"/>
              </a:rPr>
              <a:t>自定义系统调用设计与实现</a:t>
            </a:r>
            <a:endParaRPr lang="zh-CN" altLang="en-US" sz="4000" dirty="0">
              <a:solidFill>
                <a:srgbClr val="394966"/>
              </a:solidFill>
              <a:latin typeface="MiSans" pitchFamily="34" charset="0"/>
              <a:ea typeface="MiSans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2825601" y="1915159"/>
            <a:ext cx="6540798" cy="1270000"/>
          </a:xfrm>
          <a:custGeom>
            <a:avLst/>
            <a:gdLst/>
            <a:ahLst/>
            <a:cxnLst/>
            <a:rect l="l" t="t" r="r" b="b"/>
            <a:pathLst>
              <a:path w="6769100" h="1270000">
                <a:moveTo>
                  <a:pt x="152400" y="0"/>
                </a:moveTo>
                <a:lnTo>
                  <a:pt x="6616700" y="0"/>
                </a:lnTo>
                <a:cubicBezTo>
                  <a:pt x="6700812" y="0"/>
                  <a:pt x="6769100" y="68288"/>
                  <a:pt x="6769100" y="152400"/>
                </a:cubicBezTo>
                <a:lnTo>
                  <a:pt x="6769100" y="1117600"/>
                </a:lnTo>
                <a:cubicBezTo>
                  <a:pt x="6769100" y="1201712"/>
                  <a:pt x="6700812" y="1270000"/>
                  <a:pt x="6616700" y="1270000"/>
                </a:cubicBezTo>
                <a:lnTo>
                  <a:pt x="152400" y="1270000"/>
                </a:lnTo>
                <a:cubicBezTo>
                  <a:pt x="68288" y="1270000"/>
                  <a:pt x="0" y="1201712"/>
                  <a:pt x="0" y="1117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6E5E5"/>
          </a:solidFill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Shape 2"/>
          <p:cNvSpPr/>
          <p:nvPr/>
        </p:nvSpPr>
        <p:spPr>
          <a:xfrm>
            <a:off x="2825601" y="3672842"/>
            <a:ext cx="6540798" cy="1270000"/>
          </a:xfrm>
          <a:custGeom>
            <a:avLst/>
            <a:gdLst/>
            <a:ahLst/>
            <a:cxnLst/>
            <a:rect l="l" t="t" r="r" b="b"/>
            <a:pathLst>
              <a:path w="6769100" h="1270000">
                <a:moveTo>
                  <a:pt x="152400" y="0"/>
                </a:moveTo>
                <a:lnTo>
                  <a:pt x="6616700" y="0"/>
                </a:lnTo>
                <a:cubicBezTo>
                  <a:pt x="6700812" y="0"/>
                  <a:pt x="6769100" y="68288"/>
                  <a:pt x="6769100" y="152400"/>
                </a:cubicBezTo>
                <a:lnTo>
                  <a:pt x="6769100" y="1117600"/>
                </a:lnTo>
                <a:cubicBezTo>
                  <a:pt x="6769100" y="1201712"/>
                  <a:pt x="6700812" y="1270000"/>
                  <a:pt x="6616700" y="1270000"/>
                </a:cubicBezTo>
                <a:lnTo>
                  <a:pt x="152400" y="1270000"/>
                </a:lnTo>
                <a:cubicBezTo>
                  <a:pt x="68288" y="1270000"/>
                  <a:pt x="0" y="1201712"/>
                  <a:pt x="0" y="1117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6E5E5"/>
          </a:solidFill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" name="文本框 3"/>
          <p:cNvSpPr txBox="1"/>
          <p:nvPr/>
        </p:nvSpPr>
        <p:spPr>
          <a:xfrm>
            <a:off x="3356205" y="2319326"/>
            <a:ext cx="54795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zh-CN" sz="2400" dirty="0">
                <a:ea typeface="宋体" panose="02010600030101010101" pitchFamily="2" charset="-122"/>
              </a:rPr>
              <a:t>在</a:t>
            </a:r>
            <a:r>
              <a:rPr lang="en-US" altLang="zh-CN" sz="2400" dirty="0">
                <a:ea typeface="宋体" panose="02010600030101010101" pitchFamily="2" charset="-122"/>
              </a:rPr>
              <a:t>Linux</a:t>
            </a:r>
            <a:r>
              <a:rPr lang="zh-CN" altLang="zh-CN" sz="2400" dirty="0">
                <a:ea typeface="宋体" panose="02010600030101010101" pitchFamily="2" charset="-122"/>
              </a:rPr>
              <a:t>内核中添加一个自定义系统调用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637517" y="4077009"/>
            <a:ext cx="4916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2400" dirty="0">
                <a:ea typeface="宋体" panose="02010600030101010101" pitchFamily="2" charset="-122"/>
              </a:rPr>
              <a:t>编写用户态程序进行测试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5A7EE-A44E-856C-2C52-6597585F0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85D7BA10-D724-DD1C-93C2-930C999A41C0}"/>
              </a:ext>
            </a:extLst>
          </p:cNvPr>
          <p:cNvSpPr/>
          <p:nvPr/>
        </p:nvSpPr>
        <p:spPr>
          <a:xfrm>
            <a:off x="503742" y="543558"/>
            <a:ext cx="4328234" cy="585995"/>
          </a:xfrm>
          <a:custGeom>
            <a:avLst/>
            <a:gdLst/>
            <a:ahLst/>
            <a:cxnLst/>
            <a:rect l="l" t="t" r="r" b="b"/>
            <a:pathLst>
              <a:path w="6769100" h="1270000">
                <a:moveTo>
                  <a:pt x="152400" y="0"/>
                </a:moveTo>
                <a:lnTo>
                  <a:pt x="6616700" y="0"/>
                </a:lnTo>
                <a:cubicBezTo>
                  <a:pt x="6700812" y="0"/>
                  <a:pt x="6769100" y="68288"/>
                  <a:pt x="6769100" y="152400"/>
                </a:cubicBezTo>
                <a:lnTo>
                  <a:pt x="6769100" y="1117600"/>
                </a:lnTo>
                <a:cubicBezTo>
                  <a:pt x="6769100" y="1201712"/>
                  <a:pt x="6700812" y="1270000"/>
                  <a:pt x="6616700" y="1270000"/>
                </a:cubicBezTo>
                <a:lnTo>
                  <a:pt x="152400" y="1270000"/>
                </a:lnTo>
                <a:cubicBezTo>
                  <a:pt x="68288" y="1270000"/>
                  <a:pt x="0" y="1201712"/>
                  <a:pt x="0" y="1117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6E5E5"/>
          </a:solidFill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7379331-8B55-FBA7-1FCF-D0FF4F0EBB95}"/>
              </a:ext>
            </a:extLst>
          </p:cNvPr>
          <p:cNvSpPr txBox="1"/>
          <p:nvPr/>
        </p:nvSpPr>
        <p:spPr>
          <a:xfrm>
            <a:off x="439373" y="651889"/>
            <a:ext cx="4392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zh-CN" dirty="0">
                <a:ea typeface="宋体" panose="02010600030101010101" pitchFamily="2" charset="-122"/>
              </a:rPr>
              <a:t>在</a:t>
            </a:r>
            <a:r>
              <a:rPr lang="en-US" altLang="zh-CN" dirty="0">
                <a:ea typeface="宋体" panose="02010600030101010101" pitchFamily="2" charset="-122"/>
              </a:rPr>
              <a:t>Linux</a:t>
            </a:r>
            <a:r>
              <a:rPr lang="zh-CN" altLang="zh-CN" dirty="0">
                <a:ea typeface="宋体" panose="02010600030101010101" pitchFamily="2" charset="-122"/>
              </a:rPr>
              <a:t>内核中添加一个自定义系统调用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43C6466-CB72-2B3A-1F51-B5A62555BBA5}"/>
              </a:ext>
            </a:extLst>
          </p:cNvPr>
          <p:cNvSpPr txBox="1"/>
          <p:nvPr/>
        </p:nvSpPr>
        <p:spPr>
          <a:xfrm>
            <a:off x="512706" y="1271722"/>
            <a:ext cx="10273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dirty="0"/>
              <a:t>在 </a:t>
            </a:r>
            <a:r>
              <a:rPr lang="en-US" altLang="zh-CN" dirty="0"/>
              <a:t>Linux </a:t>
            </a:r>
            <a:r>
              <a:rPr lang="zh-CN" altLang="en-US" dirty="0"/>
              <a:t>内核中添加一个系统调用，本质上是为</a:t>
            </a:r>
            <a:r>
              <a:rPr lang="zh-CN" altLang="en-US" b="1" dirty="0"/>
              <a:t>用户态程序与内核态之间新增一条标准化、安全的 “通信通道” </a:t>
            </a:r>
            <a:r>
              <a:rPr lang="en-US" altLang="zh-CN" dirty="0"/>
              <a:t>—— </a:t>
            </a:r>
            <a:r>
              <a:rPr lang="zh-CN" altLang="en-US" dirty="0"/>
              <a:t>本质是扩展内核的对外接口，让用户态程序能合法调用内核的核心资源 </a:t>
            </a:r>
            <a:r>
              <a:rPr lang="en-US" altLang="zh-CN" dirty="0"/>
              <a:t>/ </a:t>
            </a:r>
            <a:r>
              <a:rPr lang="zh-CN" altLang="en-US" dirty="0"/>
              <a:t>功能，同时遵循内核的权限校验、上下文切换和安全管控规则。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A23E09C-961D-B563-5DFC-FB57BF823196}"/>
              </a:ext>
            </a:extLst>
          </p:cNvPr>
          <p:cNvSpPr txBox="1"/>
          <p:nvPr/>
        </p:nvSpPr>
        <p:spPr>
          <a:xfrm>
            <a:off x="189190" y="2857174"/>
            <a:ext cx="507402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步骤一：注册身份（系统调用表）</a:t>
            </a:r>
            <a:endParaRPr lang="en-US" altLang="zh-CN" b="1" dirty="0"/>
          </a:p>
          <a:p>
            <a:endParaRPr lang="zh-CN" altLang="en-US" dirty="0"/>
          </a:p>
          <a:p>
            <a:pPr lvl="1"/>
            <a:r>
              <a:rPr lang="zh-CN" altLang="en-US" b="1" dirty="0"/>
              <a:t>文件</a:t>
            </a:r>
            <a:r>
              <a:rPr lang="zh-CN" altLang="en-US" dirty="0"/>
              <a:t>：</a:t>
            </a:r>
            <a:r>
              <a:rPr lang="en-US" altLang="zh-CN" dirty="0"/>
              <a:t>arch/x86/entry/</a:t>
            </a:r>
            <a:r>
              <a:rPr lang="en-US" altLang="zh-CN" dirty="0" err="1"/>
              <a:t>syscalls</a:t>
            </a:r>
            <a:r>
              <a:rPr lang="en-US" altLang="zh-CN" dirty="0"/>
              <a:t>/syscall_64.tbl</a:t>
            </a:r>
          </a:p>
          <a:p>
            <a:pPr lvl="1"/>
            <a:endParaRPr lang="en-US" altLang="zh-CN" dirty="0"/>
          </a:p>
          <a:p>
            <a:pPr lvl="1"/>
            <a:r>
              <a:rPr lang="zh-CN" altLang="en-US" b="1" dirty="0"/>
              <a:t>为什么要改？</a:t>
            </a:r>
            <a:r>
              <a:rPr lang="zh-CN" altLang="en-US" dirty="0"/>
              <a:t>：这是内核的“通讯录”。</a:t>
            </a:r>
            <a:r>
              <a:rPr lang="en-US" altLang="zh-CN" dirty="0"/>
              <a:t>CPU </a:t>
            </a:r>
            <a:r>
              <a:rPr lang="zh-CN" altLang="en-US" dirty="0"/>
              <a:t>收到用户程序的请求时，只认数字（</a:t>
            </a:r>
            <a:r>
              <a:rPr lang="en-US" altLang="zh-CN" dirty="0"/>
              <a:t>548</a:t>
            </a:r>
            <a:r>
              <a:rPr lang="zh-CN" altLang="en-US" dirty="0"/>
              <a:t>）。这个文件将数字映射到具体的函数名，告诉内核“</a:t>
            </a:r>
            <a:r>
              <a:rPr lang="en-US" altLang="zh-CN" dirty="0"/>
              <a:t>548</a:t>
            </a:r>
            <a:r>
              <a:rPr lang="zh-CN" altLang="en-US" dirty="0"/>
              <a:t>号服务”对应哪个入口。</a:t>
            </a:r>
            <a:endParaRPr lang="en-US" altLang="zh-CN" dirty="0"/>
          </a:p>
          <a:p>
            <a:pPr lvl="1"/>
            <a:endParaRPr lang="zh-CN" altLang="en-US" dirty="0"/>
          </a:p>
          <a:p>
            <a:pPr lvl="1"/>
            <a:r>
              <a:rPr lang="zh-CN" altLang="en-US" b="1" dirty="0"/>
              <a:t>关键点</a:t>
            </a:r>
            <a:r>
              <a:rPr lang="zh-CN" altLang="en-US" dirty="0"/>
              <a:t>：必须选择未被占用的号码（通过查看文件末尾确定）。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EB3577C2-D101-B72E-01EE-F7EF7B9CF2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1" t="38677" r="9891"/>
          <a:stretch>
            <a:fillRect/>
          </a:stretch>
        </p:blipFill>
        <p:spPr>
          <a:xfrm>
            <a:off x="5200460" y="3226457"/>
            <a:ext cx="6659846" cy="3139320"/>
          </a:xfrm>
          <a:prstGeom prst="rect">
            <a:avLst/>
          </a:prstGeom>
        </p:spPr>
      </p:pic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B7249CF-6095-1613-7B78-B90FBC0A2B3A}"/>
              </a:ext>
            </a:extLst>
          </p:cNvPr>
          <p:cNvCxnSpPr>
            <a:cxnSpLocks/>
          </p:cNvCxnSpPr>
          <p:nvPr/>
        </p:nvCxnSpPr>
        <p:spPr>
          <a:xfrm>
            <a:off x="5263213" y="5226428"/>
            <a:ext cx="431381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5DF70920-533F-2562-DC04-5FB913A5AA50}"/>
              </a:ext>
            </a:extLst>
          </p:cNvPr>
          <p:cNvCxnSpPr>
            <a:cxnSpLocks/>
          </p:cNvCxnSpPr>
          <p:nvPr/>
        </p:nvCxnSpPr>
        <p:spPr>
          <a:xfrm>
            <a:off x="5263213" y="5401368"/>
            <a:ext cx="431381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423F5EFD-B51B-E61F-B899-905C8BB1E7F8}"/>
              </a:ext>
            </a:extLst>
          </p:cNvPr>
          <p:cNvCxnSpPr/>
          <p:nvPr/>
        </p:nvCxnSpPr>
        <p:spPr>
          <a:xfrm>
            <a:off x="5263213" y="5244354"/>
            <a:ext cx="0" cy="14343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A2D90156-8CA3-9EA6-34D5-BFE86E2F7F16}"/>
              </a:ext>
            </a:extLst>
          </p:cNvPr>
          <p:cNvCxnSpPr/>
          <p:nvPr/>
        </p:nvCxnSpPr>
        <p:spPr>
          <a:xfrm>
            <a:off x="9565342" y="5244354"/>
            <a:ext cx="0" cy="14343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0" name="图片 29">
            <a:extLst>
              <a:ext uri="{FF2B5EF4-FFF2-40B4-BE49-F238E27FC236}">
                <a16:creationId xmlns:a16="http://schemas.microsoft.com/office/drawing/2014/main" id="{039A893C-5193-37D8-C315-354711408F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" t="20879" r="6957" b="61364"/>
          <a:stretch>
            <a:fillRect/>
          </a:stretch>
        </p:blipFill>
        <p:spPr>
          <a:xfrm>
            <a:off x="5233661" y="2300818"/>
            <a:ext cx="6498481" cy="923330"/>
          </a:xfrm>
          <a:prstGeom prst="rect">
            <a:avLst/>
          </a:prstGeom>
        </p:spPr>
      </p:pic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82FA798C-B30C-C6C9-22F3-F4A920AA8BDA}"/>
              </a:ext>
            </a:extLst>
          </p:cNvPr>
          <p:cNvCxnSpPr/>
          <p:nvPr/>
        </p:nvCxnSpPr>
        <p:spPr>
          <a:xfrm>
            <a:off x="5233661" y="3917575"/>
            <a:ext cx="450201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98817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3742" y="543558"/>
            <a:ext cx="4328234" cy="585995"/>
          </a:xfrm>
          <a:custGeom>
            <a:avLst/>
            <a:gdLst/>
            <a:ahLst/>
            <a:cxnLst/>
            <a:rect l="l" t="t" r="r" b="b"/>
            <a:pathLst>
              <a:path w="6769100" h="1270000">
                <a:moveTo>
                  <a:pt x="152400" y="0"/>
                </a:moveTo>
                <a:lnTo>
                  <a:pt x="6616700" y="0"/>
                </a:lnTo>
                <a:cubicBezTo>
                  <a:pt x="6700812" y="0"/>
                  <a:pt x="6769100" y="68288"/>
                  <a:pt x="6769100" y="152400"/>
                </a:cubicBezTo>
                <a:lnTo>
                  <a:pt x="6769100" y="1117600"/>
                </a:lnTo>
                <a:cubicBezTo>
                  <a:pt x="6769100" y="1201712"/>
                  <a:pt x="6700812" y="1270000"/>
                  <a:pt x="6616700" y="1270000"/>
                </a:cubicBezTo>
                <a:lnTo>
                  <a:pt x="152400" y="1270000"/>
                </a:lnTo>
                <a:cubicBezTo>
                  <a:pt x="68288" y="1270000"/>
                  <a:pt x="0" y="1201712"/>
                  <a:pt x="0" y="1117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6E5E5"/>
          </a:solidFill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439373" y="651889"/>
            <a:ext cx="4392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zh-CN" dirty="0">
                <a:ea typeface="宋体" panose="02010600030101010101" pitchFamily="2" charset="-122"/>
              </a:rPr>
              <a:t>在</a:t>
            </a:r>
            <a:r>
              <a:rPr lang="en-US" altLang="zh-CN" dirty="0">
                <a:ea typeface="宋体" panose="02010600030101010101" pitchFamily="2" charset="-122"/>
              </a:rPr>
              <a:t>Linux</a:t>
            </a:r>
            <a:r>
              <a:rPr lang="zh-CN" altLang="zh-CN" dirty="0">
                <a:ea typeface="宋体" panose="02010600030101010101" pitchFamily="2" charset="-122"/>
              </a:rPr>
              <a:t>内核中添加一个自定义系统调用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B55DCA4-6227-52C2-B4A0-4B4F62C13EE3}"/>
              </a:ext>
            </a:extLst>
          </p:cNvPr>
          <p:cNvSpPr txBox="1"/>
          <p:nvPr/>
        </p:nvSpPr>
        <p:spPr>
          <a:xfrm>
            <a:off x="233184" y="2032454"/>
            <a:ext cx="49663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步骤二：发布声明（头文件）</a:t>
            </a:r>
            <a:endParaRPr lang="zh-CN" altLang="en-US" dirty="0"/>
          </a:p>
          <a:p>
            <a:pPr lvl="1"/>
            <a:r>
              <a:rPr lang="zh-CN" altLang="en-US" b="1" dirty="0"/>
              <a:t>文件</a:t>
            </a:r>
            <a:r>
              <a:rPr lang="zh-CN" altLang="en-US" dirty="0"/>
              <a:t>：</a:t>
            </a:r>
            <a:r>
              <a:rPr lang="en-US" altLang="zh-CN" dirty="0"/>
              <a:t>include/</a:t>
            </a:r>
            <a:r>
              <a:rPr lang="en-US" altLang="zh-CN" dirty="0" err="1"/>
              <a:t>linux</a:t>
            </a:r>
            <a:r>
              <a:rPr lang="en-US" altLang="zh-CN" dirty="0"/>
              <a:t>/</a:t>
            </a:r>
            <a:r>
              <a:rPr lang="en-US" altLang="zh-CN" dirty="0" err="1"/>
              <a:t>syscalls.h</a:t>
            </a:r>
            <a:endParaRPr lang="en-US" altLang="zh-CN" dirty="0"/>
          </a:p>
          <a:p>
            <a:pPr lvl="1"/>
            <a:r>
              <a:rPr lang="en-US" altLang="zh-CN" b="1" dirty="0"/>
              <a:t> </a:t>
            </a:r>
            <a:endParaRPr lang="zh-CN" altLang="en-US" dirty="0"/>
          </a:p>
          <a:p>
            <a:pPr lvl="1"/>
            <a:r>
              <a:rPr lang="zh-CN" altLang="en-US" b="1" dirty="0"/>
              <a:t>为什么要改？</a:t>
            </a:r>
            <a:r>
              <a:rPr lang="zh-CN" altLang="en-US" dirty="0"/>
              <a:t>：这是 </a:t>
            </a:r>
            <a:r>
              <a:rPr lang="en-US" altLang="zh-CN" dirty="0"/>
              <a:t>C </a:t>
            </a:r>
            <a:r>
              <a:rPr lang="zh-CN" altLang="en-US" dirty="0"/>
              <a:t>语言的编译规则。就像去办事大厅要先看“办事指南”一样，头文件告诉内核的其他部分（以及编译器）：这个函数的参数是什么、返回值是什么，确保编译时链接正确。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05CDC892-292F-658A-8F58-A2088DC52E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7" r="5969"/>
          <a:stretch>
            <a:fillRect/>
          </a:stretch>
        </p:blipFill>
        <p:spPr>
          <a:xfrm>
            <a:off x="5263898" y="905436"/>
            <a:ext cx="6571028" cy="4391894"/>
          </a:xfrm>
          <a:prstGeom prst="rect">
            <a:avLst/>
          </a:prstGeom>
        </p:spPr>
      </p:pic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A088B739-2733-2D56-00D0-5AB01FAF3238}"/>
              </a:ext>
            </a:extLst>
          </p:cNvPr>
          <p:cNvCxnSpPr>
            <a:cxnSpLocks/>
          </p:cNvCxnSpPr>
          <p:nvPr/>
        </p:nvCxnSpPr>
        <p:spPr>
          <a:xfrm>
            <a:off x="5263898" y="4500282"/>
            <a:ext cx="375459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74BB90CD-91D9-683D-D113-329A6D1F6A31}"/>
              </a:ext>
            </a:extLst>
          </p:cNvPr>
          <p:cNvCxnSpPr/>
          <p:nvPr/>
        </p:nvCxnSpPr>
        <p:spPr>
          <a:xfrm>
            <a:off x="5263898" y="4340778"/>
            <a:ext cx="375459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CE5F338A-0E41-1D39-F893-EF8B596101B7}"/>
              </a:ext>
            </a:extLst>
          </p:cNvPr>
          <p:cNvCxnSpPr/>
          <p:nvPr/>
        </p:nvCxnSpPr>
        <p:spPr>
          <a:xfrm flipV="1">
            <a:off x="5263898" y="4340778"/>
            <a:ext cx="0" cy="15950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D694F7D9-BAB7-2683-1DBC-F6ED66E4CF8F}"/>
              </a:ext>
            </a:extLst>
          </p:cNvPr>
          <p:cNvCxnSpPr/>
          <p:nvPr/>
        </p:nvCxnSpPr>
        <p:spPr>
          <a:xfrm flipV="1">
            <a:off x="9018494" y="4340778"/>
            <a:ext cx="0" cy="15950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FC433-79C0-2614-7125-09FA561A0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1D1820A7-C550-E22F-8C01-8F1537394D20}"/>
              </a:ext>
            </a:extLst>
          </p:cNvPr>
          <p:cNvSpPr/>
          <p:nvPr/>
        </p:nvSpPr>
        <p:spPr>
          <a:xfrm>
            <a:off x="503742" y="543558"/>
            <a:ext cx="4328234" cy="585995"/>
          </a:xfrm>
          <a:custGeom>
            <a:avLst/>
            <a:gdLst/>
            <a:ahLst/>
            <a:cxnLst/>
            <a:rect l="l" t="t" r="r" b="b"/>
            <a:pathLst>
              <a:path w="6769100" h="1270000">
                <a:moveTo>
                  <a:pt x="152400" y="0"/>
                </a:moveTo>
                <a:lnTo>
                  <a:pt x="6616700" y="0"/>
                </a:lnTo>
                <a:cubicBezTo>
                  <a:pt x="6700812" y="0"/>
                  <a:pt x="6769100" y="68288"/>
                  <a:pt x="6769100" y="152400"/>
                </a:cubicBezTo>
                <a:lnTo>
                  <a:pt x="6769100" y="1117600"/>
                </a:lnTo>
                <a:cubicBezTo>
                  <a:pt x="6769100" y="1201712"/>
                  <a:pt x="6700812" y="1270000"/>
                  <a:pt x="6616700" y="1270000"/>
                </a:cubicBezTo>
                <a:lnTo>
                  <a:pt x="152400" y="1270000"/>
                </a:lnTo>
                <a:cubicBezTo>
                  <a:pt x="68288" y="1270000"/>
                  <a:pt x="0" y="1201712"/>
                  <a:pt x="0" y="1117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6E5E5"/>
          </a:solidFill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0B8A28B-1695-D056-E89A-A54612B4FC0E}"/>
              </a:ext>
            </a:extLst>
          </p:cNvPr>
          <p:cNvSpPr txBox="1"/>
          <p:nvPr/>
        </p:nvSpPr>
        <p:spPr>
          <a:xfrm>
            <a:off x="439373" y="651889"/>
            <a:ext cx="4392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zh-CN" dirty="0">
                <a:ea typeface="宋体" panose="02010600030101010101" pitchFamily="2" charset="-122"/>
              </a:rPr>
              <a:t>在</a:t>
            </a:r>
            <a:r>
              <a:rPr lang="en-US" altLang="zh-CN" dirty="0">
                <a:ea typeface="宋体" panose="02010600030101010101" pitchFamily="2" charset="-122"/>
              </a:rPr>
              <a:t>Linux</a:t>
            </a:r>
            <a:r>
              <a:rPr lang="zh-CN" altLang="zh-CN" dirty="0">
                <a:ea typeface="宋体" panose="02010600030101010101" pitchFamily="2" charset="-122"/>
              </a:rPr>
              <a:t>内核中添加一个自定义系统调用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F3A2DAF-C383-3F18-AFB9-04E8CA68AB96}"/>
              </a:ext>
            </a:extLst>
          </p:cNvPr>
          <p:cNvSpPr txBox="1"/>
          <p:nvPr/>
        </p:nvSpPr>
        <p:spPr>
          <a:xfrm>
            <a:off x="197326" y="2355184"/>
            <a:ext cx="43926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步骤三：实现逻辑（源文件）</a:t>
            </a:r>
            <a:endParaRPr lang="zh-CN" altLang="en-US" dirty="0"/>
          </a:p>
          <a:p>
            <a:pPr lvl="1"/>
            <a:r>
              <a:rPr lang="zh-CN" altLang="en-US" b="1" dirty="0"/>
              <a:t>文件</a:t>
            </a:r>
            <a:r>
              <a:rPr lang="zh-CN" altLang="en-US" dirty="0"/>
              <a:t>：</a:t>
            </a:r>
            <a:r>
              <a:rPr lang="en-US" altLang="zh-CN" dirty="0"/>
              <a:t>kernel/</a:t>
            </a:r>
            <a:r>
              <a:rPr lang="en-US" altLang="zh-CN" dirty="0" err="1"/>
              <a:t>sys.c</a:t>
            </a:r>
            <a:endParaRPr lang="en-US" altLang="zh-CN" dirty="0"/>
          </a:p>
          <a:p>
            <a:pPr lvl="1"/>
            <a:endParaRPr lang="zh-CN" altLang="en-US" dirty="0"/>
          </a:p>
          <a:p>
            <a:pPr lvl="1"/>
            <a:r>
              <a:rPr lang="zh-CN" altLang="en-US" b="1" dirty="0"/>
              <a:t>为什么要改？</a:t>
            </a:r>
            <a:r>
              <a:rPr lang="zh-CN" altLang="en-US" dirty="0"/>
              <a:t>：这是真正干活的地方。当系统调用被触发时，</a:t>
            </a:r>
            <a:r>
              <a:rPr lang="en-US" altLang="zh-CN" dirty="0"/>
              <a:t>CPU </a:t>
            </a:r>
            <a:r>
              <a:rPr lang="zh-CN" altLang="en-US" dirty="0"/>
              <a:t>最终会执行这里的代码逻辑。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67B5B8F-5544-5208-4EA3-96DAF534B0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5563" y="532060"/>
            <a:ext cx="7049111" cy="5806943"/>
          </a:xfrm>
          <a:prstGeom prst="rect">
            <a:avLst/>
          </a:prstGeom>
        </p:spPr>
      </p:pic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87CDB40-E5BF-86C8-7A2C-20378325290F}"/>
              </a:ext>
            </a:extLst>
          </p:cNvPr>
          <p:cNvCxnSpPr/>
          <p:nvPr/>
        </p:nvCxnSpPr>
        <p:spPr>
          <a:xfrm>
            <a:off x="5011271" y="2061882"/>
            <a:ext cx="551329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9F26064D-A15D-4B49-31BC-A5274A0ED36E}"/>
              </a:ext>
            </a:extLst>
          </p:cNvPr>
          <p:cNvCxnSpPr/>
          <p:nvPr/>
        </p:nvCxnSpPr>
        <p:spPr>
          <a:xfrm>
            <a:off x="10524565" y="2061882"/>
            <a:ext cx="0" cy="326315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8BD0719A-7CAE-115C-7A5F-A74137130406}"/>
              </a:ext>
            </a:extLst>
          </p:cNvPr>
          <p:cNvCxnSpPr/>
          <p:nvPr/>
        </p:nvCxnSpPr>
        <p:spPr>
          <a:xfrm flipH="1">
            <a:off x="5011271" y="5325035"/>
            <a:ext cx="551329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A906F3DF-6762-C791-0DAD-0C64D6C9215C}"/>
              </a:ext>
            </a:extLst>
          </p:cNvPr>
          <p:cNvCxnSpPr/>
          <p:nvPr/>
        </p:nvCxnSpPr>
        <p:spPr>
          <a:xfrm flipH="1" flipV="1">
            <a:off x="4945563" y="2061882"/>
            <a:ext cx="65708" cy="326315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77094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6D67A-A08F-ACAE-B5EE-B5982ADAB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ACF0898F-ACB3-4B72-5597-D42AA39013A4}"/>
              </a:ext>
            </a:extLst>
          </p:cNvPr>
          <p:cNvSpPr/>
          <p:nvPr/>
        </p:nvSpPr>
        <p:spPr>
          <a:xfrm>
            <a:off x="503742" y="543558"/>
            <a:ext cx="4328234" cy="585995"/>
          </a:xfrm>
          <a:custGeom>
            <a:avLst/>
            <a:gdLst/>
            <a:ahLst/>
            <a:cxnLst/>
            <a:rect l="l" t="t" r="r" b="b"/>
            <a:pathLst>
              <a:path w="6769100" h="1270000">
                <a:moveTo>
                  <a:pt x="152400" y="0"/>
                </a:moveTo>
                <a:lnTo>
                  <a:pt x="6616700" y="0"/>
                </a:lnTo>
                <a:cubicBezTo>
                  <a:pt x="6700812" y="0"/>
                  <a:pt x="6769100" y="68288"/>
                  <a:pt x="6769100" y="152400"/>
                </a:cubicBezTo>
                <a:lnTo>
                  <a:pt x="6769100" y="1117600"/>
                </a:lnTo>
                <a:cubicBezTo>
                  <a:pt x="6769100" y="1201712"/>
                  <a:pt x="6700812" y="1270000"/>
                  <a:pt x="6616700" y="1270000"/>
                </a:cubicBezTo>
                <a:lnTo>
                  <a:pt x="152400" y="1270000"/>
                </a:lnTo>
                <a:cubicBezTo>
                  <a:pt x="68288" y="1270000"/>
                  <a:pt x="0" y="1201712"/>
                  <a:pt x="0" y="1117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6E5E5"/>
          </a:solidFill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8BC2ACE-9167-CFAC-7EF5-5BED070251EC}"/>
              </a:ext>
            </a:extLst>
          </p:cNvPr>
          <p:cNvSpPr txBox="1"/>
          <p:nvPr/>
        </p:nvSpPr>
        <p:spPr>
          <a:xfrm>
            <a:off x="439373" y="651889"/>
            <a:ext cx="4392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zh-CN" dirty="0">
                <a:ea typeface="宋体" panose="02010600030101010101" pitchFamily="2" charset="-122"/>
              </a:rPr>
              <a:t>在</a:t>
            </a:r>
            <a:r>
              <a:rPr lang="en-US" altLang="zh-CN" dirty="0">
                <a:ea typeface="宋体" panose="02010600030101010101" pitchFamily="2" charset="-122"/>
              </a:rPr>
              <a:t>Linux</a:t>
            </a:r>
            <a:r>
              <a:rPr lang="zh-CN" altLang="zh-CN" dirty="0">
                <a:ea typeface="宋体" panose="02010600030101010101" pitchFamily="2" charset="-122"/>
              </a:rPr>
              <a:t>内核中添加一个自定义系统调用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EFDDE7-E445-EB3E-31CD-F1ADEAB28296}"/>
              </a:ext>
            </a:extLst>
          </p:cNvPr>
          <p:cNvSpPr txBox="1"/>
          <p:nvPr/>
        </p:nvSpPr>
        <p:spPr>
          <a:xfrm>
            <a:off x="439373" y="1584220"/>
            <a:ext cx="476015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步骤四：编译内核文件</a:t>
            </a:r>
            <a:endParaRPr lang="en-US" altLang="zh-CN" b="1" dirty="0"/>
          </a:p>
          <a:p>
            <a:endParaRPr lang="zh-CN" altLang="en-US" dirty="0"/>
          </a:p>
          <a:p>
            <a:r>
              <a:rPr lang="zh-CN" altLang="en-US" b="1" dirty="0"/>
              <a:t>为什么改完要重新编译？</a:t>
            </a:r>
          </a:p>
          <a:p>
            <a:r>
              <a:rPr lang="zh-CN" altLang="en-US" b="1" dirty="0"/>
              <a:t>原因</a:t>
            </a:r>
            <a:r>
              <a:rPr lang="zh-CN" altLang="en-US" dirty="0"/>
              <a:t>：</a:t>
            </a:r>
            <a:r>
              <a:rPr lang="en-US" altLang="zh-CN" dirty="0"/>
              <a:t>Linux </a:t>
            </a:r>
            <a:r>
              <a:rPr lang="zh-CN" altLang="en-US" dirty="0"/>
              <a:t>内核是一个</a:t>
            </a:r>
            <a:r>
              <a:rPr lang="zh-CN" altLang="en-US" b="1" dirty="0"/>
              <a:t>宏内核 </a:t>
            </a:r>
            <a:r>
              <a:rPr lang="zh-CN" altLang="en-US" dirty="0"/>
              <a:t>，系统调用属于内核的核心功能，是直接编译进二进制内核镜像（</a:t>
            </a:r>
            <a:r>
              <a:rPr lang="en-US" altLang="zh-CN" dirty="0" err="1"/>
              <a:t>vmlinux</a:t>
            </a:r>
            <a:r>
              <a:rPr lang="zh-CN" altLang="en-US" dirty="0"/>
              <a:t>）中的，而不是像 </a:t>
            </a:r>
            <a:r>
              <a:rPr lang="en-US" altLang="zh-CN" dirty="0"/>
              <a:t>U </a:t>
            </a:r>
            <a:r>
              <a:rPr lang="zh-CN" altLang="en-US" dirty="0"/>
              <a:t>盘一样即插即用的外部模块。我们修改了源码（</a:t>
            </a:r>
            <a:r>
              <a:rPr lang="en-US" altLang="zh-CN" dirty="0"/>
              <a:t>C</a:t>
            </a:r>
            <a:r>
              <a:rPr lang="zh-CN" altLang="en-US" dirty="0"/>
              <a:t>代码），必须通过编译器（</a:t>
            </a:r>
            <a:r>
              <a:rPr lang="en-US" altLang="zh-CN" dirty="0"/>
              <a:t>GCC</a:t>
            </a:r>
            <a:r>
              <a:rPr lang="zh-CN" altLang="en-US" dirty="0"/>
              <a:t>）将其翻译成机器码，并重新链接生成新的内核安装包（</a:t>
            </a:r>
            <a:r>
              <a:rPr lang="en-US" altLang="zh-CN" dirty="0"/>
              <a:t>.deb</a:t>
            </a:r>
            <a:r>
              <a:rPr lang="zh-CN" altLang="en-US" dirty="0"/>
              <a:t>），安装重启后，新的逻辑才会生效。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添加了自定义版本后缀 </a:t>
            </a:r>
            <a:r>
              <a:rPr lang="en-US" altLang="zh-CN" dirty="0"/>
              <a:t>(LOCALVERSION=-dabuliu) </a:t>
            </a:r>
            <a:r>
              <a:rPr lang="zh-CN" altLang="en-US" dirty="0"/>
              <a:t>改变了构建环境上下文。</a:t>
            </a:r>
            <a:r>
              <a:rPr lang="en-US" altLang="zh-CN" dirty="0" err="1"/>
              <a:t>Kconfig</a:t>
            </a:r>
            <a:r>
              <a:rPr lang="en-US" altLang="zh-CN" dirty="0"/>
              <a:t> </a:t>
            </a:r>
            <a:r>
              <a:rPr lang="zh-CN" altLang="en-US" dirty="0"/>
              <a:t>配置系统检测到有未确认的新选项，启动交互机制询问用户。</a:t>
            </a:r>
            <a:endParaRPr lang="en-US" altLang="zh-CN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34C23B52-2696-FE12-37E6-27E978F925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05" t="62483" r="13294"/>
          <a:stretch>
            <a:fillRect/>
          </a:stretch>
        </p:blipFill>
        <p:spPr>
          <a:xfrm>
            <a:off x="5244353" y="1927413"/>
            <a:ext cx="6651812" cy="2572870"/>
          </a:xfrm>
          <a:prstGeom prst="rect">
            <a:avLst/>
          </a:prstGeom>
        </p:spPr>
      </p:pic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D5A89932-08CF-3DE3-EF0E-25079DBC3E6C}"/>
              </a:ext>
            </a:extLst>
          </p:cNvPr>
          <p:cNvCxnSpPr>
            <a:cxnSpLocks/>
          </p:cNvCxnSpPr>
          <p:nvPr/>
        </p:nvCxnSpPr>
        <p:spPr>
          <a:xfrm>
            <a:off x="5307106" y="2384613"/>
            <a:ext cx="608703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30F534A-FC7B-D8AF-8583-EE837F5525DC}"/>
              </a:ext>
            </a:extLst>
          </p:cNvPr>
          <p:cNvCxnSpPr/>
          <p:nvPr/>
        </p:nvCxnSpPr>
        <p:spPr>
          <a:xfrm>
            <a:off x="5307106" y="2250141"/>
            <a:ext cx="608703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BCE2C7F2-0CD1-9E73-4FBE-663515D91F80}"/>
              </a:ext>
            </a:extLst>
          </p:cNvPr>
          <p:cNvCxnSpPr/>
          <p:nvPr/>
        </p:nvCxnSpPr>
        <p:spPr>
          <a:xfrm>
            <a:off x="5244353" y="2250141"/>
            <a:ext cx="0" cy="1344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38C50F76-3B17-5CD3-D2F0-35FF009A4719}"/>
              </a:ext>
            </a:extLst>
          </p:cNvPr>
          <p:cNvCxnSpPr/>
          <p:nvPr/>
        </p:nvCxnSpPr>
        <p:spPr>
          <a:xfrm>
            <a:off x="11394141" y="2250141"/>
            <a:ext cx="0" cy="13447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0180A8CF-E449-A69D-9644-0A18AD5D13E3}"/>
              </a:ext>
            </a:extLst>
          </p:cNvPr>
          <p:cNvCxnSpPr/>
          <p:nvPr/>
        </p:nvCxnSpPr>
        <p:spPr>
          <a:xfrm>
            <a:off x="5289178" y="2250141"/>
            <a:ext cx="0" cy="13447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81116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A7918-DF49-BD61-4428-F33DB6D76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DFB305B9-AF16-0B0E-4E95-1C6AEF641E09}"/>
              </a:ext>
            </a:extLst>
          </p:cNvPr>
          <p:cNvSpPr/>
          <p:nvPr/>
        </p:nvSpPr>
        <p:spPr>
          <a:xfrm>
            <a:off x="471557" y="543557"/>
            <a:ext cx="4328234" cy="585995"/>
          </a:xfrm>
          <a:custGeom>
            <a:avLst/>
            <a:gdLst/>
            <a:ahLst/>
            <a:cxnLst/>
            <a:rect l="l" t="t" r="r" b="b"/>
            <a:pathLst>
              <a:path w="6769100" h="1270000">
                <a:moveTo>
                  <a:pt x="152400" y="0"/>
                </a:moveTo>
                <a:lnTo>
                  <a:pt x="6616700" y="0"/>
                </a:lnTo>
                <a:cubicBezTo>
                  <a:pt x="6700812" y="0"/>
                  <a:pt x="6769100" y="68288"/>
                  <a:pt x="6769100" y="152400"/>
                </a:cubicBezTo>
                <a:lnTo>
                  <a:pt x="6769100" y="1117600"/>
                </a:lnTo>
                <a:cubicBezTo>
                  <a:pt x="6769100" y="1201712"/>
                  <a:pt x="6700812" y="1270000"/>
                  <a:pt x="6616700" y="1270000"/>
                </a:cubicBezTo>
                <a:lnTo>
                  <a:pt x="152400" y="1270000"/>
                </a:lnTo>
                <a:cubicBezTo>
                  <a:pt x="68288" y="1270000"/>
                  <a:pt x="0" y="1201712"/>
                  <a:pt x="0" y="1117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6E5E5"/>
          </a:solidFill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BB86077-A4B6-556A-1D14-A32044DCE3BF}"/>
              </a:ext>
            </a:extLst>
          </p:cNvPr>
          <p:cNvSpPr txBox="1"/>
          <p:nvPr/>
        </p:nvSpPr>
        <p:spPr>
          <a:xfrm>
            <a:off x="439373" y="651889"/>
            <a:ext cx="4392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zh-CN" dirty="0">
                <a:ea typeface="宋体" panose="02010600030101010101" pitchFamily="2" charset="-122"/>
              </a:rPr>
              <a:t>在</a:t>
            </a:r>
            <a:r>
              <a:rPr lang="en-US" altLang="zh-CN" dirty="0">
                <a:ea typeface="宋体" panose="02010600030101010101" pitchFamily="2" charset="-122"/>
              </a:rPr>
              <a:t>Linux</a:t>
            </a:r>
            <a:r>
              <a:rPr lang="zh-CN" altLang="zh-CN" dirty="0">
                <a:ea typeface="宋体" panose="02010600030101010101" pitchFamily="2" charset="-122"/>
              </a:rPr>
              <a:t>内核中添加一个自定义系统调用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CD9405A-B5B3-0EA7-8377-B90A20F2F7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6344" y="1398495"/>
            <a:ext cx="7019872" cy="183776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C1E0A3A-5CB5-3475-414D-3A84AEAEF9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6344" y="1628532"/>
            <a:ext cx="7019871" cy="4829528"/>
          </a:xfrm>
          <a:prstGeom prst="rect">
            <a:avLst/>
          </a:prstGeom>
        </p:spPr>
      </p:pic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CA1B071-A037-752D-99C1-7D8B14C954E0}"/>
              </a:ext>
            </a:extLst>
          </p:cNvPr>
          <p:cNvCxnSpPr/>
          <p:nvPr/>
        </p:nvCxnSpPr>
        <p:spPr>
          <a:xfrm>
            <a:off x="4896344" y="1775012"/>
            <a:ext cx="701987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BD4EDF41-1716-DCA0-2DCA-147CA3827977}"/>
              </a:ext>
            </a:extLst>
          </p:cNvPr>
          <p:cNvSpPr txBox="1"/>
          <p:nvPr/>
        </p:nvSpPr>
        <p:spPr>
          <a:xfrm>
            <a:off x="275784" y="1628532"/>
            <a:ext cx="439260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步骤五：安装这些包是使用这个自定义系统调用的前提</a:t>
            </a:r>
            <a:endParaRPr lang="en-US" altLang="zh-CN" b="1" dirty="0"/>
          </a:p>
          <a:p>
            <a:endParaRPr lang="zh-CN" altLang="en-US" dirty="0"/>
          </a:p>
          <a:p>
            <a:r>
              <a:rPr lang="zh-CN" altLang="en-US" dirty="0"/>
              <a:t>安装</a:t>
            </a:r>
            <a:r>
              <a:rPr lang="en-US" altLang="zh-CN" dirty="0" err="1"/>
              <a:t>linux</a:t>
            </a:r>
            <a:r>
              <a:rPr lang="en-US" altLang="zh-CN" dirty="0"/>
              <a:t>-image</a:t>
            </a:r>
            <a:r>
              <a:rPr lang="zh-CN" altLang="en-US" dirty="0"/>
              <a:t> → 系统启动新内核后，自定义系统调用才会被内核加载；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安装</a:t>
            </a:r>
            <a:r>
              <a:rPr lang="en-US" altLang="zh-CN" dirty="0" err="1"/>
              <a:t>linux</a:t>
            </a:r>
            <a:r>
              <a:rPr lang="en-US" altLang="zh-CN" dirty="0"/>
              <a:t>-</a:t>
            </a:r>
            <a:r>
              <a:rPr lang="en-US" altLang="zh-CN" dirty="0" err="1"/>
              <a:t>libc</a:t>
            </a:r>
            <a:r>
              <a:rPr lang="en-US" altLang="zh-CN" dirty="0"/>
              <a:t>-dev</a:t>
            </a:r>
            <a:r>
              <a:rPr lang="zh-CN" altLang="en-US" dirty="0"/>
              <a:t> → 用户态测试程序才能正确编译、调用到这个新系统调用；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安装</a:t>
            </a:r>
            <a:r>
              <a:rPr lang="en-US" altLang="zh-CN" dirty="0" err="1"/>
              <a:t>linux</a:t>
            </a:r>
            <a:r>
              <a:rPr lang="en-US" altLang="zh-CN" dirty="0"/>
              <a:t>-headers</a:t>
            </a:r>
            <a:r>
              <a:rPr lang="zh-CN" altLang="en-US" dirty="0"/>
              <a:t> → 后续如果给这个系统调用写配套的内核模块，能正常编译。</a:t>
            </a:r>
          </a:p>
        </p:txBody>
      </p:sp>
    </p:spTree>
    <p:extLst>
      <p:ext uri="{BB962C8B-B14F-4D97-AF65-F5344CB8AC3E}">
        <p14:creationId xmlns:p14="http://schemas.microsoft.com/office/powerpoint/2010/main" val="42809245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D2F951FD-206F-CC16-33DD-8641A7DA9A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7" t="4259" r="1801" b="1612"/>
          <a:stretch>
            <a:fillRect/>
          </a:stretch>
        </p:blipFill>
        <p:spPr>
          <a:xfrm>
            <a:off x="5351930" y="1407458"/>
            <a:ext cx="6526305" cy="484094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92BB0F5-DCE8-9569-A926-5FE0CBA044DB}"/>
              </a:ext>
            </a:extLst>
          </p:cNvPr>
          <p:cNvSpPr txBox="1"/>
          <p:nvPr/>
        </p:nvSpPr>
        <p:spPr>
          <a:xfrm>
            <a:off x="421342" y="1961492"/>
            <a:ext cx="48140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2400" b="1" dirty="0">
                <a:ea typeface="宋体" panose="02010600030101010101" pitchFamily="2" charset="-122"/>
              </a:rPr>
              <a:t>重启时在</a:t>
            </a:r>
            <a:r>
              <a:rPr lang="en-US" altLang="zh-CN" sz="2400" b="1" dirty="0">
                <a:ea typeface="宋体" panose="02010600030101010101" pitchFamily="2" charset="-122"/>
              </a:rPr>
              <a:t>GRUB</a:t>
            </a:r>
            <a:r>
              <a:rPr lang="zh-CN" altLang="en-US" sz="2400" b="1" dirty="0">
                <a:ea typeface="宋体" panose="02010600030101010101" pitchFamily="2" charset="-122"/>
              </a:rPr>
              <a:t>选择新的版本</a:t>
            </a:r>
            <a:endParaRPr lang="en-US" altLang="zh-CN" sz="2400" b="1" dirty="0">
              <a:ea typeface="宋体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02DCE78-7AA6-7B58-477F-C642164E2AC6}"/>
              </a:ext>
            </a:extLst>
          </p:cNvPr>
          <p:cNvSpPr txBox="1"/>
          <p:nvPr/>
        </p:nvSpPr>
        <p:spPr>
          <a:xfrm>
            <a:off x="5351930" y="671161"/>
            <a:ext cx="652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sudo</a:t>
            </a:r>
            <a:r>
              <a:rPr lang="en-US" altLang="zh-CN" b="1" dirty="0"/>
              <a:t> make -j$(</a:t>
            </a:r>
            <a:r>
              <a:rPr lang="en-US" altLang="zh-CN" b="1" dirty="0" err="1"/>
              <a:t>nproc</a:t>
            </a:r>
            <a:r>
              <a:rPr lang="en-US" altLang="zh-CN" b="1" dirty="0"/>
              <a:t>) </a:t>
            </a:r>
            <a:r>
              <a:rPr lang="en-US" altLang="zh-CN" b="1" dirty="0" err="1"/>
              <a:t>bindeb</a:t>
            </a:r>
            <a:r>
              <a:rPr lang="en-US" altLang="zh-CN" b="1" dirty="0"/>
              <a:t>-pkg LOCALVERSION=-dabuliu</a:t>
            </a:r>
            <a:endParaRPr lang="zh-CN" altLang="zh-CN" sz="2400" dirty="0">
              <a:effectLst/>
            </a:endParaRP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6BB148D1-24B1-AE7A-DF4A-96A427708612}"/>
              </a:ext>
            </a:extLst>
          </p:cNvPr>
          <p:cNvSpPr/>
          <p:nvPr/>
        </p:nvSpPr>
        <p:spPr>
          <a:xfrm>
            <a:off x="471557" y="543557"/>
            <a:ext cx="4328234" cy="585995"/>
          </a:xfrm>
          <a:custGeom>
            <a:avLst/>
            <a:gdLst/>
            <a:ahLst/>
            <a:cxnLst/>
            <a:rect l="l" t="t" r="r" b="b"/>
            <a:pathLst>
              <a:path w="6769100" h="1270000">
                <a:moveTo>
                  <a:pt x="152400" y="0"/>
                </a:moveTo>
                <a:lnTo>
                  <a:pt x="6616700" y="0"/>
                </a:lnTo>
                <a:cubicBezTo>
                  <a:pt x="6700812" y="0"/>
                  <a:pt x="6769100" y="68288"/>
                  <a:pt x="6769100" y="152400"/>
                </a:cubicBezTo>
                <a:lnTo>
                  <a:pt x="6769100" y="1117600"/>
                </a:lnTo>
                <a:cubicBezTo>
                  <a:pt x="6769100" y="1201712"/>
                  <a:pt x="6700812" y="1270000"/>
                  <a:pt x="6616700" y="1270000"/>
                </a:cubicBezTo>
                <a:lnTo>
                  <a:pt x="152400" y="1270000"/>
                </a:lnTo>
                <a:cubicBezTo>
                  <a:pt x="68288" y="1270000"/>
                  <a:pt x="0" y="1201712"/>
                  <a:pt x="0" y="1117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6E5E5"/>
          </a:solidFill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92CA095-AC96-6DBB-7F3E-F3A149F1CC35}"/>
              </a:ext>
            </a:extLst>
          </p:cNvPr>
          <p:cNvSpPr txBox="1"/>
          <p:nvPr/>
        </p:nvSpPr>
        <p:spPr>
          <a:xfrm>
            <a:off x="439373" y="651889"/>
            <a:ext cx="4392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zh-CN" dirty="0">
                <a:ea typeface="宋体" panose="02010600030101010101" pitchFamily="2" charset="-122"/>
              </a:rPr>
              <a:t>在</a:t>
            </a:r>
            <a:r>
              <a:rPr lang="en-US" altLang="zh-CN" dirty="0">
                <a:ea typeface="宋体" panose="02010600030101010101" pitchFamily="2" charset="-122"/>
              </a:rPr>
              <a:t>Linux</a:t>
            </a:r>
            <a:r>
              <a:rPr lang="zh-CN" altLang="zh-CN" dirty="0">
                <a:ea typeface="宋体" panose="02010600030101010101" pitchFamily="2" charset="-122"/>
              </a:rPr>
              <a:t>内核中添加一个自定义系统调用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AC7D7-C007-966F-EBDC-DBC8601BC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83ADA3BD-0355-B402-41F6-469CE288FF86}"/>
              </a:ext>
            </a:extLst>
          </p:cNvPr>
          <p:cNvSpPr txBox="1"/>
          <p:nvPr/>
        </p:nvSpPr>
        <p:spPr>
          <a:xfrm>
            <a:off x="211581" y="1836572"/>
            <a:ext cx="491623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正确性验证：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dirty="0"/>
              <a:t>设计思路：我们采用对照组实验的方法。</a:t>
            </a:r>
            <a:r>
              <a:rPr lang="en-US" altLang="zh-CN" dirty="0"/>
              <a:t>Linux </a:t>
            </a:r>
            <a:r>
              <a:rPr lang="zh-CN" altLang="en-US" dirty="0"/>
              <a:t>原生的 </a:t>
            </a:r>
            <a:r>
              <a:rPr lang="en-US" altLang="zh-CN" dirty="0" err="1"/>
              <a:t>getpid</a:t>
            </a:r>
            <a:r>
              <a:rPr lang="en-US" altLang="zh-CN" dirty="0"/>
              <a:t>()</a:t>
            </a:r>
            <a:r>
              <a:rPr lang="zh-CN" altLang="en-US" dirty="0"/>
              <a:t> 是绝对可信的标准，我们将自定义系统调用的返回值与标准值进行比对。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dirty="0"/>
              <a:t>当我们的系统调用返回值与 </a:t>
            </a:r>
            <a:r>
              <a:rPr lang="en-US" altLang="zh-CN" dirty="0" err="1"/>
              <a:t>getpid</a:t>
            </a:r>
            <a:r>
              <a:rPr lang="en-US" altLang="zh-CN" dirty="0"/>
              <a:t>()</a:t>
            </a:r>
            <a:r>
              <a:rPr lang="zh-CN" altLang="en-US" dirty="0"/>
              <a:t> 严格一致时，才能证明内核态的数据准确无误地传回了用户态。</a:t>
            </a:r>
            <a:endParaRPr lang="zh-CN" altLang="en-US" b="1" dirty="0"/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D9A6097E-E1A9-81EE-47B6-E9801C1D47F1}"/>
              </a:ext>
            </a:extLst>
          </p:cNvPr>
          <p:cNvSpPr/>
          <p:nvPr/>
        </p:nvSpPr>
        <p:spPr>
          <a:xfrm>
            <a:off x="471557" y="543557"/>
            <a:ext cx="4328234" cy="585995"/>
          </a:xfrm>
          <a:custGeom>
            <a:avLst/>
            <a:gdLst/>
            <a:ahLst/>
            <a:cxnLst/>
            <a:rect l="l" t="t" r="r" b="b"/>
            <a:pathLst>
              <a:path w="6769100" h="1270000">
                <a:moveTo>
                  <a:pt x="152400" y="0"/>
                </a:moveTo>
                <a:lnTo>
                  <a:pt x="6616700" y="0"/>
                </a:lnTo>
                <a:cubicBezTo>
                  <a:pt x="6700812" y="0"/>
                  <a:pt x="6769100" y="68288"/>
                  <a:pt x="6769100" y="152400"/>
                </a:cubicBezTo>
                <a:lnTo>
                  <a:pt x="6769100" y="1117600"/>
                </a:lnTo>
                <a:cubicBezTo>
                  <a:pt x="6769100" y="1201712"/>
                  <a:pt x="6700812" y="1270000"/>
                  <a:pt x="6616700" y="1270000"/>
                </a:cubicBezTo>
                <a:lnTo>
                  <a:pt x="152400" y="1270000"/>
                </a:lnTo>
                <a:cubicBezTo>
                  <a:pt x="68288" y="1270000"/>
                  <a:pt x="0" y="1201712"/>
                  <a:pt x="0" y="1117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6E5E5"/>
          </a:solidFill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97F24F3-1303-3DC5-246E-2808F9BCBA06}"/>
              </a:ext>
            </a:extLst>
          </p:cNvPr>
          <p:cNvSpPr txBox="1"/>
          <p:nvPr/>
        </p:nvSpPr>
        <p:spPr>
          <a:xfrm>
            <a:off x="439373" y="651889"/>
            <a:ext cx="4392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dirty="0">
                <a:ea typeface="宋体" panose="02010600030101010101" pitchFamily="2" charset="-122"/>
              </a:rPr>
              <a:t>编写用户态程序进行测试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D378FAD-8411-4A59-3FB4-31A14A727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895" y="720511"/>
            <a:ext cx="6918378" cy="304592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D77C118-29D1-23F2-9899-1250B65A96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307" b="68888"/>
          <a:stretch>
            <a:fillRect/>
          </a:stretch>
        </p:blipFill>
        <p:spPr>
          <a:xfrm>
            <a:off x="4559453" y="4148034"/>
            <a:ext cx="7254856" cy="217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5056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63B9E-F2D7-3CB9-76B8-7E4215087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7F11B3B2-9250-BED4-609D-C4023C0522A9}"/>
              </a:ext>
            </a:extLst>
          </p:cNvPr>
          <p:cNvSpPr txBox="1"/>
          <p:nvPr/>
        </p:nvSpPr>
        <p:spPr>
          <a:xfrm>
            <a:off x="439373" y="1424196"/>
            <a:ext cx="458453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稳定性验证：</a:t>
            </a:r>
            <a:endParaRPr lang="en-US" altLang="zh-CN" b="1" dirty="0"/>
          </a:p>
          <a:p>
            <a:endParaRPr lang="en-US" altLang="zh-CN" sz="2400" b="1" dirty="0">
              <a:effectLst/>
            </a:endParaRPr>
          </a:p>
          <a:p>
            <a:r>
              <a:rPr lang="zh-CN" altLang="en-US" dirty="0"/>
              <a:t>设计思路：操作系统是典型的多任务环境。为了验证代码的线程安全性，使用 </a:t>
            </a:r>
            <a:r>
              <a:rPr lang="en-US" altLang="zh-CN" dirty="0"/>
              <a:t>fork</a:t>
            </a:r>
            <a:r>
              <a:rPr lang="zh-CN" altLang="en-US" dirty="0"/>
              <a:t> 模拟了多进程并发场景，对内核发起“轰炸式”调用，检测是否存在竞争条件</a:t>
            </a:r>
            <a:endParaRPr lang="en-US" altLang="zh-CN" dirty="0"/>
          </a:p>
          <a:p>
            <a:endParaRPr lang="zh-CN" altLang="zh-CN" sz="2400" dirty="0">
              <a:effectLst/>
            </a:endParaRP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7255F942-1CBA-EBEF-591B-E31E5E2877DD}"/>
              </a:ext>
            </a:extLst>
          </p:cNvPr>
          <p:cNvSpPr/>
          <p:nvPr/>
        </p:nvSpPr>
        <p:spPr>
          <a:xfrm>
            <a:off x="471557" y="543557"/>
            <a:ext cx="4328234" cy="585995"/>
          </a:xfrm>
          <a:custGeom>
            <a:avLst/>
            <a:gdLst/>
            <a:ahLst/>
            <a:cxnLst/>
            <a:rect l="l" t="t" r="r" b="b"/>
            <a:pathLst>
              <a:path w="6769100" h="1270000">
                <a:moveTo>
                  <a:pt x="152400" y="0"/>
                </a:moveTo>
                <a:lnTo>
                  <a:pt x="6616700" y="0"/>
                </a:lnTo>
                <a:cubicBezTo>
                  <a:pt x="6700812" y="0"/>
                  <a:pt x="6769100" y="68288"/>
                  <a:pt x="6769100" y="152400"/>
                </a:cubicBezTo>
                <a:lnTo>
                  <a:pt x="6769100" y="1117600"/>
                </a:lnTo>
                <a:cubicBezTo>
                  <a:pt x="6769100" y="1201712"/>
                  <a:pt x="6700812" y="1270000"/>
                  <a:pt x="6616700" y="1270000"/>
                </a:cubicBezTo>
                <a:lnTo>
                  <a:pt x="152400" y="1270000"/>
                </a:lnTo>
                <a:cubicBezTo>
                  <a:pt x="68288" y="1270000"/>
                  <a:pt x="0" y="1201712"/>
                  <a:pt x="0" y="1117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6E5E5"/>
          </a:solidFill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41CC940-ED55-FA99-522B-A3AB46E0D886}"/>
              </a:ext>
            </a:extLst>
          </p:cNvPr>
          <p:cNvSpPr txBox="1"/>
          <p:nvPr/>
        </p:nvSpPr>
        <p:spPr>
          <a:xfrm>
            <a:off x="439373" y="651889"/>
            <a:ext cx="4392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dirty="0">
                <a:ea typeface="宋体" panose="02010600030101010101" pitchFamily="2" charset="-122"/>
              </a:rPr>
              <a:t>编写用户态程序进行测试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F94D5D7-8ABC-AE0B-478A-9BA9A909B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1831" y="543557"/>
            <a:ext cx="6918475" cy="560975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99452E2-123A-6704-E853-79B4F5C578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14" r="38957" b="68570"/>
          <a:stretch>
            <a:fillRect/>
          </a:stretch>
        </p:blipFill>
        <p:spPr>
          <a:xfrm>
            <a:off x="331694" y="3685935"/>
            <a:ext cx="4948518" cy="1779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5482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46C5B-B6CE-6D76-A6C2-F905FFCAE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AE83A1EA-DD9B-F0E8-C66A-9A7A7B0C04C3}"/>
              </a:ext>
            </a:extLst>
          </p:cNvPr>
          <p:cNvSpPr txBox="1"/>
          <p:nvPr/>
        </p:nvSpPr>
        <p:spPr>
          <a:xfrm>
            <a:off x="266552" y="1231673"/>
            <a:ext cx="43926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effectLst/>
              </a:rPr>
              <a:t>性能验证：</a:t>
            </a:r>
            <a:endParaRPr lang="en-US" altLang="zh-CN" b="1" dirty="0">
              <a:effectLst/>
            </a:endParaRPr>
          </a:p>
          <a:p>
            <a:r>
              <a:rPr lang="zh-CN" altLang="en-US" dirty="0"/>
              <a:t>设计思路：为了量化 </a:t>
            </a:r>
            <a:r>
              <a:rPr lang="en-US" altLang="zh-CN" dirty="0" err="1"/>
              <a:t>printk</a:t>
            </a:r>
            <a:r>
              <a:rPr lang="zh-CN" altLang="en-US" dirty="0"/>
              <a:t> 日志带来的开销，建立了基准测试。对比“纯内存操作”的 </a:t>
            </a:r>
            <a:r>
              <a:rPr lang="en-US" altLang="zh-CN" dirty="0" err="1"/>
              <a:t>getpid</a:t>
            </a:r>
            <a:r>
              <a:rPr lang="zh-CN" altLang="en-US" dirty="0"/>
              <a:t> 和“含 </a:t>
            </a:r>
            <a:r>
              <a:rPr lang="en-US" altLang="zh-CN" dirty="0"/>
              <a:t>I/O </a:t>
            </a:r>
            <a:r>
              <a:rPr lang="zh-CN" altLang="en-US" dirty="0"/>
              <a:t>操作”的自定义调用，计算性能损耗比。</a:t>
            </a:r>
            <a:endParaRPr lang="zh-CN" altLang="zh-CN" dirty="0">
              <a:effectLst/>
            </a:endParaRP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430256B3-5186-FC26-A788-A0BBEEEC81D0}"/>
              </a:ext>
            </a:extLst>
          </p:cNvPr>
          <p:cNvSpPr/>
          <p:nvPr/>
        </p:nvSpPr>
        <p:spPr>
          <a:xfrm>
            <a:off x="471557" y="543557"/>
            <a:ext cx="4328234" cy="585995"/>
          </a:xfrm>
          <a:custGeom>
            <a:avLst/>
            <a:gdLst/>
            <a:ahLst/>
            <a:cxnLst/>
            <a:rect l="l" t="t" r="r" b="b"/>
            <a:pathLst>
              <a:path w="6769100" h="1270000">
                <a:moveTo>
                  <a:pt x="152400" y="0"/>
                </a:moveTo>
                <a:lnTo>
                  <a:pt x="6616700" y="0"/>
                </a:lnTo>
                <a:cubicBezTo>
                  <a:pt x="6700812" y="0"/>
                  <a:pt x="6769100" y="68288"/>
                  <a:pt x="6769100" y="152400"/>
                </a:cubicBezTo>
                <a:lnTo>
                  <a:pt x="6769100" y="1117600"/>
                </a:lnTo>
                <a:cubicBezTo>
                  <a:pt x="6769100" y="1201712"/>
                  <a:pt x="6700812" y="1270000"/>
                  <a:pt x="6616700" y="1270000"/>
                </a:cubicBezTo>
                <a:lnTo>
                  <a:pt x="152400" y="1270000"/>
                </a:lnTo>
                <a:cubicBezTo>
                  <a:pt x="68288" y="1270000"/>
                  <a:pt x="0" y="1201712"/>
                  <a:pt x="0" y="1117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6E5E5"/>
          </a:solidFill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9FE4968-B5E0-80DF-FD42-D5FBF95DDD4F}"/>
              </a:ext>
            </a:extLst>
          </p:cNvPr>
          <p:cNvSpPr txBox="1"/>
          <p:nvPr/>
        </p:nvSpPr>
        <p:spPr>
          <a:xfrm>
            <a:off x="439373" y="651889"/>
            <a:ext cx="4392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dirty="0">
                <a:ea typeface="宋体" panose="02010600030101010101" pitchFamily="2" charset="-122"/>
              </a:rPr>
              <a:t>编写用户态程序进行测试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8CDDF7B-5D44-8D98-0B63-9AD5405D3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975" y="437216"/>
            <a:ext cx="7093473" cy="523723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A1215CA-70A9-801D-4DCE-A6C42E4875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13" t="9114" r="31136" b="33981"/>
          <a:stretch>
            <a:fillRect/>
          </a:stretch>
        </p:blipFill>
        <p:spPr>
          <a:xfrm>
            <a:off x="368410" y="2919453"/>
            <a:ext cx="4589071" cy="361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7071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B3F41-FD84-2A43-2B44-BEBD63EB8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2">
            <a:extLst>
              <a:ext uri="{FF2B5EF4-FFF2-40B4-BE49-F238E27FC236}">
                <a16:creationId xmlns:a16="http://schemas.microsoft.com/office/drawing/2014/main" id="{7FEAFB23-8D7D-215D-A7A4-DA98B3F0F3AC}"/>
              </a:ext>
            </a:extLst>
          </p:cNvPr>
          <p:cNvSpPr/>
          <p:nvPr/>
        </p:nvSpPr>
        <p:spPr>
          <a:xfrm>
            <a:off x="471557" y="543557"/>
            <a:ext cx="4328234" cy="585995"/>
          </a:xfrm>
          <a:custGeom>
            <a:avLst/>
            <a:gdLst/>
            <a:ahLst/>
            <a:cxnLst/>
            <a:rect l="l" t="t" r="r" b="b"/>
            <a:pathLst>
              <a:path w="6769100" h="1270000">
                <a:moveTo>
                  <a:pt x="152400" y="0"/>
                </a:moveTo>
                <a:lnTo>
                  <a:pt x="6616700" y="0"/>
                </a:lnTo>
                <a:cubicBezTo>
                  <a:pt x="6700812" y="0"/>
                  <a:pt x="6769100" y="68288"/>
                  <a:pt x="6769100" y="152400"/>
                </a:cubicBezTo>
                <a:lnTo>
                  <a:pt x="6769100" y="1117600"/>
                </a:lnTo>
                <a:cubicBezTo>
                  <a:pt x="6769100" y="1201712"/>
                  <a:pt x="6700812" y="1270000"/>
                  <a:pt x="6616700" y="1270000"/>
                </a:cubicBezTo>
                <a:lnTo>
                  <a:pt x="152400" y="1270000"/>
                </a:lnTo>
                <a:cubicBezTo>
                  <a:pt x="68288" y="1270000"/>
                  <a:pt x="0" y="1201712"/>
                  <a:pt x="0" y="1117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6E5E5"/>
          </a:solidFill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5FA83BC-7291-DDD3-E29F-C511B9239419}"/>
              </a:ext>
            </a:extLst>
          </p:cNvPr>
          <p:cNvSpPr txBox="1"/>
          <p:nvPr/>
        </p:nvSpPr>
        <p:spPr>
          <a:xfrm>
            <a:off x="439373" y="651889"/>
            <a:ext cx="4392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dirty="0">
                <a:ea typeface="宋体" panose="02010600030101010101" pitchFamily="2" charset="-122"/>
              </a:rPr>
              <a:t>编写用户态程序进行测试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BDD7233-FFEE-9461-A34E-66D3F86AE8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" r="6177"/>
          <a:stretch>
            <a:fillRect/>
          </a:stretch>
        </p:blipFill>
        <p:spPr>
          <a:xfrm>
            <a:off x="5886990" y="277906"/>
            <a:ext cx="6000488" cy="613829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AAE861A-B47B-FE30-03E4-CA6054461933}"/>
              </a:ext>
            </a:extLst>
          </p:cNvPr>
          <p:cNvSpPr txBox="1"/>
          <p:nvPr/>
        </p:nvSpPr>
        <p:spPr>
          <a:xfrm>
            <a:off x="226661" y="1240406"/>
            <a:ext cx="558246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为了从</a:t>
            </a:r>
            <a:r>
              <a:rPr lang="zh-CN" altLang="en-US" b="1" dirty="0"/>
              <a:t>底层验证系统调用</a:t>
            </a:r>
            <a:r>
              <a:rPr lang="zh-CN" altLang="en-US" dirty="0"/>
              <a:t>是否成功注册，查看内核符号表 </a:t>
            </a:r>
            <a:r>
              <a:rPr lang="en-US" altLang="zh-CN" dirty="0"/>
              <a:t>/proc/</a:t>
            </a:r>
            <a:r>
              <a:rPr lang="en-US" altLang="zh-CN" dirty="0" err="1"/>
              <a:t>kallsym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ffffffff827f45b1</a:t>
            </a:r>
            <a:r>
              <a:rPr lang="zh-CN" altLang="en-US" dirty="0"/>
              <a:t> </a:t>
            </a:r>
            <a:r>
              <a:rPr lang="en-US" altLang="zh-CN" dirty="0"/>
              <a:t>:</a:t>
            </a:r>
            <a:r>
              <a:rPr lang="zh-CN" altLang="en-US" dirty="0"/>
              <a:t>这是十六进制的内存地址。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dirty="0"/>
              <a:t>T :</a:t>
            </a:r>
            <a:r>
              <a:rPr lang="zh-CN" altLang="en-US" dirty="0"/>
              <a:t>代表 </a:t>
            </a:r>
            <a:r>
              <a:rPr lang="en-US" altLang="zh-CN" dirty="0"/>
              <a:t>Text</a:t>
            </a:r>
            <a:r>
              <a:rPr lang="zh-CN" altLang="en-US" dirty="0"/>
              <a:t>（代码段）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__x64_sys_my_student_info: 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使用</a:t>
            </a:r>
            <a:r>
              <a:rPr lang="en-US" altLang="zh-CN" dirty="0"/>
              <a:t>SYSCALL_DEFINE1</a:t>
            </a:r>
            <a:r>
              <a:rPr lang="zh-CN" altLang="en-US" dirty="0"/>
              <a:t> 宏定义系统调用时，</a:t>
            </a:r>
            <a:r>
              <a:rPr lang="en-US" altLang="zh-CN" dirty="0"/>
              <a:t>	</a:t>
            </a:r>
            <a:r>
              <a:rPr lang="zh-CN" altLang="en-US" dirty="0"/>
              <a:t>内核会自动给你的函数穿上一层“马甲”。</a:t>
            </a:r>
            <a:r>
              <a:rPr lang="en-US" altLang="zh-CN" dirty="0"/>
              <a:t>	__x64_</a:t>
            </a:r>
            <a:r>
              <a:rPr lang="zh-CN" altLang="en-US" dirty="0"/>
              <a:t> 表示这是供 </a:t>
            </a:r>
            <a:r>
              <a:rPr lang="en-US" altLang="zh-CN" dirty="0"/>
              <a:t>64</a:t>
            </a:r>
            <a:r>
              <a:rPr lang="zh-CN" altLang="en-US" dirty="0"/>
              <a:t>位系统 调用的入口。下</a:t>
            </a:r>
            <a:r>
              <a:rPr lang="en-US" altLang="zh-CN" dirty="0"/>
              <a:t>	</a:t>
            </a:r>
            <a:r>
              <a:rPr lang="zh-CN" altLang="en-US" dirty="0"/>
              <a:t>面那行 </a:t>
            </a:r>
            <a:r>
              <a:rPr lang="en-US" altLang="zh-CN" dirty="0"/>
              <a:t>__ia32_</a:t>
            </a:r>
            <a:r>
              <a:rPr lang="zh-CN" altLang="en-US" dirty="0"/>
              <a:t> 表示这是为了兼容 </a:t>
            </a:r>
            <a:r>
              <a:rPr lang="en-US" altLang="zh-CN" dirty="0"/>
              <a:t>32</a:t>
            </a:r>
            <a:r>
              <a:rPr lang="zh-CN" altLang="en-US" dirty="0"/>
              <a:t>位程</a:t>
            </a:r>
            <a:r>
              <a:rPr lang="en-US" altLang="zh-CN" dirty="0"/>
              <a:t>	</a:t>
            </a:r>
            <a:r>
              <a:rPr lang="zh-CN" altLang="en-US" dirty="0"/>
              <a:t>序 准备的入口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A63F7A0-B221-2EBA-ACBC-73E79A71CC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657" r="9110"/>
          <a:stretch>
            <a:fillRect/>
          </a:stretch>
        </p:blipFill>
        <p:spPr>
          <a:xfrm>
            <a:off x="304522" y="5114043"/>
            <a:ext cx="5504607" cy="784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4897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856</Words>
  <Application>Microsoft Office PowerPoint</Application>
  <PresentationFormat>宽屏</PresentationFormat>
  <Paragraphs>64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MiSans</vt:lpstr>
      <vt:lpstr>等线</vt:lpstr>
      <vt:lpstr>等线 Light</vt:lpstr>
      <vt:lpstr>宋体</vt:lpstr>
      <vt:lpstr>微软雅黑</vt:lpstr>
      <vt:lpstr>Arial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zj</dc:creator>
  <cp:lastModifiedBy>_ dabuliu</cp:lastModifiedBy>
  <cp:revision>82</cp:revision>
  <dcterms:created xsi:type="dcterms:W3CDTF">2018-09-26T04:09:00Z</dcterms:created>
  <dcterms:modified xsi:type="dcterms:W3CDTF">2025-12-10T07:08:50Z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KSOTemplateUUID">
    <vt:lpwstr>v1.0_mb_95aSIxoHuwUjjZkhUSPOVQ==</vt:lpwstr>
  </property>
  <property fmtid="{D5CDD505-2E9C-101B-9397-08002B2CF9AE}" pid="4" name="ICV">
    <vt:lpwstr>C846E51E8D5943338BCDC93F63B0B32F_13</vt:lpwstr>
  </property>
</Properties>
</file>